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4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4630400" cy="8229600"/>
  <p:notesSz cx="8229600" cy="14630400"/>
  <p:embeddedFontLst>
    <p:embeddedFont>
      <p:font typeface="Calibri" panose="020F0502020204030204" pitchFamily="34" charset="0"/>
      <p:regular r:id="rId7"/>
      <p:bold r:id="rId8"/>
      <p:italic r:id="rId9"/>
      <p:boldItalic r:id="rId10"/>
    </p:embeddedFont>
    <p:embeddedFont>
      <p:font typeface="Calibri Light" panose="020F0302020204030204" pitchFamily="34" charset="0"/>
      <p:regular r:id="rId11"/>
      <p:italic r:id="rId1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9856"/>
    <p:restoredTop sz="94610"/>
  </p:normalViewPr>
  <p:slideViewPr>
    <p:cSldViewPr snapToGrid="0" snapToObjects="1">
      <p:cViewPr varScale="1">
        <p:scale>
          <a:sx n="47" d="100"/>
          <a:sy n="47" d="100"/>
        </p:scale>
        <p:origin x="232" y="19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4217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2EAC22-59FA-9FF2-D722-128268C1E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574B199-5B06-9F7B-31A5-1CC3CDF89F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10AA81A-98DC-3344-39EE-DC3537153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6A036-5C39-FE44-A993-934A84A4CB53}" type="datetimeFigureOut">
              <a:rPr lang="ru-RU" smtClean="0"/>
              <a:t>20.03.2025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A6D3A2-6896-F870-3660-13199B899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FCC33CD-9A42-25F8-0C89-E277AAC01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4BE0-B90D-1742-AAF7-9903A0CC6B7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71681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83B7C0-F291-01CA-9918-6488F54FF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4167238-2254-9473-0B2A-3012C3C3D1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2D5FCFB-F52E-1FD9-1EA6-6A8BB6465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6A036-5C39-FE44-A993-934A84A4CB53}" type="datetimeFigureOut">
              <a:rPr lang="ru-RU" smtClean="0"/>
              <a:t>20.03.2025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D5292B-F562-32F3-50F9-ACCFCB502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870EDFF-1B2C-0A8A-E5B4-EE8300CA9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4BE0-B90D-1742-AAF7-9903A0CC6B7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694828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BAE42E1-8E11-98EF-352A-0D46E2A58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056B0DF-3161-BD8A-94F6-8E3AB3FC74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75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FA3FA7C-B6BC-96CA-E765-A43690DCB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6A036-5C39-FE44-A993-934A84A4CB53}" type="datetimeFigureOut">
              <a:rPr lang="ru-RU" smtClean="0"/>
              <a:t>20.03.2025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9FC3C33-349B-7CEA-CF87-E7288EB87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2E2EECD-16F7-4A8A-4D16-D36C430C8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4BE0-B90D-1742-AAF7-9903A0CC6B7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870980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133377-B480-A910-0871-7EF6950D2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4A8D1F-8ECA-09B6-C958-A54ACBE87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F1899C5-049B-BB11-7FF2-D4750B4C65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C596846-1330-57BB-5748-79D748916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6A036-5C39-FE44-A993-934A84A4CB53}" type="datetimeFigureOut">
              <a:rPr lang="ru-RU" smtClean="0"/>
              <a:t>20.03.2025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75FA068-1E26-99E5-1AAF-C545F63CA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1D56CE9-0BFE-D441-1AA7-75151B683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4BE0-B90D-1742-AAF7-9903A0CC6B7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56332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D62951-C0B1-7B14-B318-03E800B21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FC5BD49-1F22-6719-70F9-1D0AE82914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0168392-2EBC-FDE1-1E5E-AEFB04B322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AB05C7C-1B1D-B89B-C21A-4C1AAB37E3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8F6E4077-8A92-B13C-2F74-EA926858A8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8DC4B51-BE66-3C43-108B-FD99C125A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6A036-5C39-FE44-A993-934A84A4CB53}" type="datetimeFigureOut">
              <a:rPr lang="ru-RU" smtClean="0"/>
              <a:t>20.03.2025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F67B733-5B7D-881D-66F2-54451553E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5F3E6C5-D510-74FD-FC31-8659906EB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4BE0-B90D-1742-AAF7-9903A0CC6B7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331675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5DA3C2-A27B-4F47-4FD4-F7EDAE384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BF1262A-43D2-F90B-D8B6-C688D0B68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6A036-5C39-FE44-A993-934A84A4CB53}" type="datetimeFigureOut">
              <a:rPr lang="ru-RU" smtClean="0"/>
              <a:t>20.03.2025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37125C5-061C-49D5-CEEC-BDBE14104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FCA1191-40B9-A736-DCD4-D3428E860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4BE0-B90D-1742-AAF7-9903A0CC6B7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320377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D690C24-4F24-A65E-6092-6DE200E0D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6A036-5C39-FE44-A993-934A84A4CB53}" type="datetimeFigureOut">
              <a:rPr lang="ru-RU" smtClean="0"/>
              <a:t>20.03.2025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1E60E0DB-837A-12C4-C1D1-71075EF06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900429-1A89-F514-BFAE-E01741F92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4BE0-B90D-1742-AAF7-9903A0CC6B7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972850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748484-5E4E-1D83-2B6E-B7BCEEF07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B860339-5158-1489-C1FC-957987048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3A77C1D-BC81-AD30-26F8-BE6C3493D4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5B5A4D5-2647-74D0-B185-BF9AF5D11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6A036-5C39-FE44-A993-934A84A4CB53}" type="datetimeFigureOut">
              <a:rPr lang="ru-RU" smtClean="0"/>
              <a:t>20.03.2025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21EAE7E-C63D-CAF5-3AEC-0120DE304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545771F-7D89-1914-98F2-3F37C0C96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4BE0-B90D-1742-AAF7-9903A0CC6B7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674215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A48B1A-BE4E-EC4E-E250-B69BA7A97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4AF10CF-58AA-1BF3-C7EE-4D2F590FBD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88F75CA-0F97-1797-7C8B-6BA8A71AC5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C620B0F-C57A-225C-0BED-2208DF99E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6A036-5C39-FE44-A993-934A84A4CB53}" type="datetimeFigureOut">
              <a:rPr lang="ru-RU" smtClean="0"/>
              <a:t>20.03.2025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7FA5F41-A5E1-7A17-D8C0-527D9D293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462A434-2064-B2B6-B776-2A2B864B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4BE0-B90D-1742-AAF7-9903A0CC6B7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814655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198CF1-B845-59C1-EF78-855C98D47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5D47E5D-5196-CE0B-7E38-E6C5754106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19A22A9-3861-F2AE-B480-5D6F4E50B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6A036-5C39-FE44-A993-934A84A4CB53}" type="datetimeFigureOut">
              <a:rPr lang="ru-RU" smtClean="0"/>
              <a:t>20.03.2025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F5200F5-598F-0984-4137-70483F45A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C79A671-32B0-3FD1-0091-460D6386A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4BE0-B90D-1742-AAF7-9903A0CC6B7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134323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7E918AD-8399-C028-AAD2-C9EEA5152A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D63D727-A363-19CD-99DF-100B1138E5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15120BA-CC22-A64D-FC99-E26464EC0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6A036-5C39-FE44-A993-934A84A4CB53}" type="datetimeFigureOut">
              <a:rPr lang="ru-RU" smtClean="0"/>
              <a:t>20.03.2025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CE4956D-9EA1-F207-CCE8-9FD891D81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C42CE67-14D2-19C6-6B32-6367AC7B7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D4BE0-B90D-1742-AAF7-9903A0CC6B7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273612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14107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475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5105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1796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3EDFF6-22F3-521C-4304-C6D9C9EEB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438150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333FDF6-256A-5631-698E-E0300452FD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AD0DDC6-2537-961E-6371-D0E9A05676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6A036-5C39-FE44-A993-934A84A4CB53}" type="datetimeFigureOut">
              <a:rPr lang="ru-RU" smtClean="0"/>
              <a:t>20.03.2025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9C0C0F-4011-E7E6-6DF9-0223909244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846320" y="7627621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67D6D0-1688-3303-69C9-5B7BA1ACF4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32720" y="7627621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5D4BE0-B90D-1742-AAF7-9903A0CC6B7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68304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68" r:id="rId14"/>
    <p:sldLayoutId id="2147483669" r:id="rId15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546985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72D45"/>
                </a:solidFill>
                <a:ea typeface="Kanit Light" pitchFamily="34" charset="-122"/>
                <a:cs typeface="Kanit Light" pitchFamily="34" charset="-120"/>
              </a:rPr>
              <a:t>Октябрьское вооруженное восстание 1917 года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4304705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ea typeface="Martel Sans" pitchFamily="34" charset="-122"/>
                <a:cs typeface="Martel Sans" pitchFamily="34" charset="-120"/>
              </a:rPr>
              <a:t>Ключевое событие в истории России, начало эпохи советской власти и перестройки политического строя.</a:t>
            </a:r>
            <a:endParaRPr lang="en-US" sz="1750" dirty="0"/>
          </a:p>
        </p:txBody>
      </p:sp>
      <p:sp>
        <p:nvSpPr>
          <p:cNvPr id="5" name="Shape 2"/>
          <p:cNvSpPr/>
          <p:nvPr/>
        </p:nvSpPr>
        <p:spPr>
          <a:xfrm>
            <a:off x="793790" y="5302568"/>
            <a:ext cx="362903" cy="362903"/>
          </a:xfrm>
          <a:prstGeom prst="roundRect">
            <a:avLst>
              <a:gd name="adj" fmla="val 25194296"/>
            </a:avLst>
          </a:prstGeom>
          <a:noFill/>
          <a:ln w="762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651159"/>
            <a:ext cx="648795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72D45"/>
                </a:solidFill>
                <a:ea typeface="Kanit Light" pitchFamily="34" charset="-122"/>
                <a:cs typeface="Kanit Light" pitchFamily="34" charset="-120"/>
              </a:rPr>
              <a:t>Предпосылки восстания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6280190" y="2955250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365260" y="2997756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solidFill>
                  <a:srgbClr val="2C3249"/>
                </a:solidFill>
                <a:ea typeface="Kanit Light" pitchFamily="34" charset="-122"/>
                <a:cs typeface="Kanit Light" pitchFamily="34" charset="-120"/>
              </a:rPr>
              <a:t>1</a:t>
            </a:r>
            <a:endParaRPr lang="en-US" sz="2650" dirty="0"/>
          </a:p>
        </p:txBody>
      </p:sp>
      <p:sp>
        <p:nvSpPr>
          <p:cNvPr id="6" name="Text 3"/>
          <p:cNvSpPr/>
          <p:nvPr/>
        </p:nvSpPr>
        <p:spPr>
          <a:xfrm>
            <a:off x="7017306" y="2955250"/>
            <a:ext cx="2927747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ea typeface="Kanit Light" pitchFamily="34" charset="-122"/>
                <a:cs typeface="Kanit Light" pitchFamily="34" charset="-120"/>
              </a:rPr>
              <a:t>Экономический и политический кризис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017306" y="3799999"/>
            <a:ext cx="2927747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ea typeface="Martel Sans" pitchFamily="34" charset="-122"/>
                <a:cs typeface="Martel Sans" pitchFamily="34" charset="-120"/>
              </a:rPr>
              <a:t>Участие в Первой мировой войне, ухудшение экономики.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10171867" y="2955250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256937" y="2997756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solidFill>
                  <a:srgbClr val="2C3249"/>
                </a:solidFill>
                <a:ea typeface="Kanit Light" pitchFamily="34" charset="-122"/>
                <a:cs typeface="Kanit Light" pitchFamily="34" charset="-120"/>
              </a:rPr>
              <a:t>2</a:t>
            </a:r>
            <a:endParaRPr lang="en-US" sz="2650" dirty="0"/>
          </a:p>
        </p:txBody>
      </p:sp>
      <p:sp>
        <p:nvSpPr>
          <p:cNvPr id="10" name="Text 7"/>
          <p:cNvSpPr/>
          <p:nvPr/>
        </p:nvSpPr>
        <p:spPr>
          <a:xfrm>
            <a:off x="10908983" y="2955250"/>
            <a:ext cx="2927747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ea typeface="Kanit Light" pitchFamily="34" charset="-122"/>
                <a:cs typeface="Kanit Light" pitchFamily="34" charset="-120"/>
              </a:rPr>
              <a:t>Недовольство Временным правительством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0908983" y="4154329"/>
            <a:ext cx="2927747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ea typeface="Martel Sans" pitchFamily="34" charset="-122"/>
                <a:cs typeface="Martel Sans" pitchFamily="34" charset="-120"/>
              </a:rPr>
              <a:t>Продолжение войны, отсутствие земельных реформ, инфляция.</a:t>
            </a:r>
            <a:endParaRPr lang="en-US" sz="1750" dirty="0"/>
          </a:p>
        </p:txBody>
      </p:sp>
      <p:sp>
        <p:nvSpPr>
          <p:cNvPr id="12" name="Shape 9"/>
          <p:cNvSpPr/>
          <p:nvPr/>
        </p:nvSpPr>
        <p:spPr>
          <a:xfrm>
            <a:off x="6280190" y="5725001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65260" y="5767507"/>
            <a:ext cx="340162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650" dirty="0">
                <a:solidFill>
                  <a:srgbClr val="2C3249"/>
                </a:solidFill>
                <a:ea typeface="Kanit Light" pitchFamily="34" charset="-122"/>
                <a:cs typeface="Kanit Light" pitchFamily="34" charset="-120"/>
              </a:rPr>
              <a:t>3</a:t>
            </a:r>
            <a:endParaRPr lang="en-US" sz="2650" dirty="0"/>
          </a:p>
        </p:txBody>
      </p:sp>
      <p:sp>
        <p:nvSpPr>
          <p:cNvPr id="14" name="Text 11"/>
          <p:cNvSpPr/>
          <p:nvPr/>
        </p:nvSpPr>
        <p:spPr>
          <a:xfrm>
            <a:off x="7017306" y="5725001"/>
            <a:ext cx="379761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ea typeface="Kanit Light" pitchFamily="34" charset="-122"/>
                <a:cs typeface="Kanit Light" pitchFamily="34" charset="-120"/>
              </a:rPr>
              <a:t>Популярность большевиков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017306" y="6215420"/>
            <a:ext cx="681930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ea typeface="Martel Sans" pitchFamily="34" charset="-122"/>
                <a:cs typeface="Martel Sans" pitchFamily="34" charset="-120"/>
              </a:rPr>
              <a:t>Лозунги: "мир, земля и хлеб", передача власти Советам.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085493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72D45"/>
                </a:solidFill>
                <a:ea typeface="Kanit Light" pitchFamily="34" charset="-122"/>
                <a:cs typeface="Kanit Light" pitchFamily="34" charset="-120"/>
              </a:rPr>
              <a:t>Ход восстания</a:t>
            </a:r>
            <a:endParaRPr lang="en-US" sz="44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790" y="2134433"/>
            <a:ext cx="1134070" cy="166985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268022" y="236124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ea typeface="Kanit Light" pitchFamily="34" charset="-122"/>
                <a:cs typeface="Kanit Light" pitchFamily="34" charset="-120"/>
              </a:rPr>
              <a:t>Подготовка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2268022" y="2851666"/>
            <a:ext cx="608218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ea typeface="Martel Sans" pitchFamily="34" charset="-122"/>
                <a:cs typeface="Martel Sans" pitchFamily="34" charset="-120"/>
              </a:rPr>
              <a:t>Решение о вооруженном захвате власти, создание ВРК.</a:t>
            </a:r>
            <a:endParaRPr lang="en-US" sz="17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3804285"/>
            <a:ext cx="1134070" cy="166985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2268022" y="403109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ea typeface="Kanit Light" pitchFamily="34" charset="-122"/>
                <a:cs typeface="Kanit Light" pitchFamily="34" charset="-120"/>
              </a:rPr>
              <a:t>Захват объектов</a:t>
            </a:r>
            <a:endParaRPr lang="en-US" sz="2200" dirty="0"/>
          </a:p>
        </p:txBody>
      </p:sp>
      <p:sp>
        <p:nvSpPr>
          <p:cNvPr id="9" name="Text 4"/>
          <p:cNvSpPr/>
          <p:nvPr/>
        </p:nvSpPr>
        <p:spPr>
          <a:xfrm>
            <a:off x="2268022" y="4521517"/>
            <a:ext cx="608218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ea typeface="Martel Sans" pitchFamily="34" charset="-122"/>
                <a:cs typeface="Martel Sans" pitchFamily="34" charset="-120"/>
              </a:rPr>
              <a:t>Занятие мостов, вокзалов, почты, телеграфа, электростанций.</a:t>
            </a:r>
            <a:endParaRPr lang="en-US" sz="17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790" y="5474137"/>
            <a:ext cx="1134070" cy="166985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268022" y="5700951"/>
            <a:ext cx="3135154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ea typeface="Kanit Light" pitchFamily="34" charset="-122"/>
                <a:cs typeface="Kanit Light" pitchFamily="34" charset="-120"/>
              </a:rPr>
              <a:t>Штурм Зимнего дворца</a:t>
            </a:r>
            <a:endParaRPr lang="en-US" sz="2200" dirty="0"/>
          </a:p>
        </p:txBody>
      </p:sp>
      <p:sp>
        <p:nvSpPr>
          <p:cNvPr id="12" name="Text 6"/>
          <p:cNvSpPr/>
          <p:nvPr/>
        </p:nvSpPr>
        <p:spPr>
          <a:xfrm>
            <a:off x="2268022" y="6191369"/>
            <a:ext cx="608218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ea typeface="Martel Sans" pitchFamily="34" charset="-122"/>
                <a:cs typeface="Martel Sans" pitchFamily="34" charset="-120"/>
              </a:rPr>
              <a:t>Арест Временного правительства, переход власти к большевикам.</a:t>
            </a:r>
            <a:endParaRPr lang="en-US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80190" y="1614607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72D45"/>
                </a:solidFill>
                <a:ea typeface="Kanit Light" pitchFamily="34" charset="-122"/>
                <a:cs typeface="Kanit Light" pitchFamily="34" charset="-120"/>
              </a:rPr>
              <a:t>Итоги и последствия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6280190" y="2663547"/>
            <a:ext cx="3664863" cy="2402324"/>
          </a:xfrm>
          <a:prstGeom prst="roundRect">
            <a:avLst>
              <a:gd name="adj" fmla="val 3966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514624" y="2897981"/>
            <a:ext cx="3195995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ea typeface="Kanit Light" pitchFamily="34" charset="-122"/>
                <a:cs typeface="Kanit Light" pitchFamily="34" charset="-120"/>
              </a:rPr>
              <a:t>Установление власти Советов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514624" y="3742730"/>
            <a:ext cx="319599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ea typeface="Martel Sans" pitchFamily="34" charset="-122"/>
                <a:cs typeface="Martel Sans" pitchFamily="34" charset="-120"/>
              </a:rPr>
              <a:t>Создание Советского правительства во главе с Лениным.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10171867" y="2663547"/>
            <a:ext cx="3664863" cy="2402324"/>
          </a:xfrm>
          <a:prstGeom prst="roundRect">
            <a:avLst>
              <a:gd name="adj" fmla="val 3966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406301" y="289798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ea typeface="Kanit Light" pitchFamily="34" charset="-122"/>
                <a:cs typeface="Kanit Light" pitchFamily="34" charset="-120"/>
              </a:rPr>
              <a:t>Гражданская война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0406301" y="3388400"/>
            <a:ext cx="319599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ea typeface="Martel Sans" pitchFamily="34" charset="-122"/>
                <a:cs typeface="Martel Sans" pitchFamily="34" charset="-120"/>
              </a:rPr>
              <a:t>Борьба между красными и белыми за власть в стране.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6280190" y="5292685"/>
            <a:ext cx="7556421" cy="1322189"/>
          </a:xfrm>
          <a:prstGeom prst="roundRect">
            <a:avLst>
              <a:gd name="adj" fmla="val 7205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14624" y="5527119"/>
            <a:ext cx="4075509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ea typeface="Kanit Light" pitchFamily="34" charset="-122"/>
                <a:cs typeface="Kanit Light" pitchFamily="34" charset="-120"/>
              </a:rPr>
              <a:t>Радикальные преобразования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514624" y="6017538"/>
            <a:ext cx="708755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ea typeface="Martel Sans" pitchFamily="34" charset="-122"/>
                <a:cs typeface="Martel Sans" pitchFamily="34" charset="-120"/>
              </a:rPr>
              <a:t>Национализация земли, промышленности, банков.</a:t>
            </a:r>
            <a:endParaRPr lang="en-US" sz="1750" dirty="0"/>
          </a:p>
        </p:txBody>
      </p:sp>
      <p:pic>
        <p:nvPicPr>
          <p:cNvPr id="1026" name="Picture 2" descr="История и последствия октябрьской революции. Когда была революция в России?  Что было после 1917 года">
            <a:extLst>
              <a:ext uri="{FF2B5EF4-FFF2-40B4-BE49-F238E27FC236}">
                <a16:creationId xmlns:a16="http://schemas.microsoft.com/office/drawing/2014/main" id="{54D0C651-0DEA-0BBC-5A16-E72B3250A9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546" r="28453"/>
          <a:stretch/>
        </p:blipFill>
        <p:spPr bwMode="auto">
          <a:xfrm>
            <a:off x="0" y="-595"/>
            <a:ext cx="5486400" cy="822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Words>141</Words>
  <Application>Microsoft Macintosh PowerPoint</Application>
  <PresentationFormat>Произвольный</PresentationFormat>
  <Paragraphs>30</Paragraphs>
  <Slides>4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8" baseType="lpstr">
      <vt:lpstr>Calibri Light</vt:lpstr>
      <vt:lpstr>Arial</vt:lpstr>
      <vt:lpstr>Calibri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Barista Newman</cp:lastModifiedBy>
  <cp:revision>3</cp:revision>
  <dcterms:created xsi:type="dcterms:W3CDTF">2025-03-20T08:59:59Z</dcterms:created>
  <dcterms:modified xsi:type="dcterms:W3CDTF">2025-03-20T09:52:42Z</dcterms:modified>
</cp:coreProperties>
</file>